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66" r:id="rId3"/>
    <p:sldId id="257" r:id="rId4"/>
    <p:sldId id="258" r:id="rId5"/>
    <p:sldId id="260" r:id="rId6"/>
    <p:sldId id="261" r:id="rId7"/>
    <p:sldId id="262" r:id="rId8"/>
    <p:sldId id="267" r:id="rId9"/>
    <p:sldId id="264" r:id="rId10"/>
  </p:sldIdLst>
  <p:sldSz cx="14630400" cy="8229600"/>
  <p:notesSz cx="8229600" cy="14630400"/>
  <p:embeddedFontLst>
    <p:embeddedFont>
      <p:font typeface="Consolas" panose="020B0609020204030204" pitchFamily="49" charset="0"/>
      <p:regular r:id="rId12"/>
      <p:bold r:id="rId13"/>
      <p:italic r:id="rId14"/>
      <p:boldItalic r:id="rId15"/>
    </p:embeddedFont>
    <p:embeddedFont>
      <p:font typeface="Prata" panose="020B0604020202020204" charset="0"/>
      <p:regular r:id="rId16"/>
    </p:embeddedFont>
    <p:embeddedFont>
      <p:font typeface="Raleway" pitchFamily="2"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9757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15746-143D-19F0-5BBD-0C78EC960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0B442-41FF-91C8-BC70-6F40BFF17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B6FCCE-6B71-1030-CA8D-0A219CC3D6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544290-35D5-9855-788E-7F39B6CA454F}"/>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2926008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sp>
        <p:nvSpPr>
          <p:cNvPr id="3" name="Text 0"/>
          <p:cNvSpPr/>
          <p:nvPr/>
        </p:nvSpPr>
        <p:spPr>
          <a:xfrm>
            <a:off x="6280190" y="2916674"/>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F2E782"/>
                </a:solidFill>
                <a:latin typeface="Prata" pitchFamily="34" charset="0"/>
                <a:ea typeface="Prata" pitchFamily="34" charset="-122"/>
                <a:cs typeface="Prata" pitchFamily="34" charset="-120"/>
              </a:rPr>
              <a:t>Introduction to fMRI Data Analysis</a:t>
            </a:r>
            <a:endParaRPr lang="en-US" sz="3900" dirty="0"/>
          </a:p>
        </p:txBody>
      </p:sp>
      <p:sp>
        <p:nvSpPr>
          <p:cNvPr id="4" name="Text 1"/>
          <p:cNvSpPr/>
          <p:nvPr/>
        </p:nvSpPr>
        <p:spPr>
          <a:xfrm>
            <a:off x="6280190" y="4454485"/>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CFCBBF"/>
                </a:solidFill>
                <a:latin typeface="Raleway" pitchFamily="34" charset="0"/>
                <a:ea typeface="Raleway" pitchFamily="34" charset="-122"/>
                <a:cs typeface="Raleway" pitchFamily="34" charset="-120"/>
              </a:rPr>
              <a:t>Presenter: Mohammad Nili</a:t>
            </a:r>
            <a:endParaRPr lang="en-US" sz="1550" dirty="0"/>
          </a:p>
        </p:txBody>
      </p:sp>
      <p:sp>
        <p:nvSpPr>
          <p:cNvPr id="5" name="Text 2"/>
          <p:cNvSpPr/>
          <p:nvPr/>
        </p:nvSpPr>
        <p:spPr>
          <a:xfrm>
            <a:off x="6280190" y="4995267"/>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CFCBBF"/>
                </a:solidFill>
                <a:latin typeface="Raleway" pitchFamily="34" charset="0"/>
                <a:ea typeface="Raleway" pitchFamily="34" charset="-122"/>
                <a:cs typeface="Raleway" pitchFamily="34" charset="-120"/>
              </a:rPr>
              <a:t>Course: Introduction to Cognitive Neuroscience</a:t>
            </a:r>
            <a:endParaRPr lang="en-US" sz="1550" dirty="0"/>
          </a:p>
        </p:txBody>
      </p:sp>
      <p:pic>
        <p:nvPicPr>
          <p:cNvPr id="6" name="Picture 2" descr="Graduate Program: Neuroscience &amp; Applied Cognitive Science (NACS) |  Department of Psychology">
            <a:extLst>
              <a:ext uri="{FF2B5EF4-FFF2-40B4-BE49-F238E27FC236}">
                <a16:creationId xmlns:a16="http://schemas.microsoft.com/office/drawing/2014/main" id="{2F7F4C25-0110-D5AE-B15C-6431956843D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96731"/>
          <a:stretch>
            <a:fillRect/>
          </a:stretch>
        </p:blipFill>
        <p:spPr bwMode="auto">
          <a:xfrm flipV="1">
            <a:off x="0" y="0"/>
            <a:ext cx="6052546" cy="2286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Graduate Program: Neuroscience &amp; Applied Cognitive Science (NACS) |  Department of Psychology">
            <a:extLst>
              <a:ext uri="{FF2B5EF4-FFF2-40B4-BE49-F238E27FC236}">
                <a16:creationId xmlns:a16="http://schemas.microsoft.com/office/drawing/2014/main" id="{734D8FD2-5C6A-7010-0BD2-75E09F62C8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96731"/>
          <a:stretch>
            <a:fillRect/>
          </a:stretch>
        </p:blipFill>
        <p:spPr bwMode="auto">
          <a:xfrm flipV="1">
            <a:off x="0" y="5943600"/>
            <a:ext cx="6052546" cy="2286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Graduate Program: Neuroscience &amp; Applied Cognitive Science (NACS) |  Department of Psychology">
            <a:extLst>
              <a:ext uri="{FF2B5EF4-FFF2-40B4-BE49-F238E27FC236}">
                <a16:creationId xmlns:a16="http://schemas.microsoft.com/office/drawing/2014/main" id="{EEAEA3AD-C511-1CAD-B0D3-ED181CE778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43000"/>
            <a:ext cx="6052546" cy="5943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9D059CB-1152-C103-14C8-0B75980E45D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A96DB9A-17CC-49F7-760B-49EFEF01C9EE}"/>
              </a:ext>
            </a:extLst>
          </p:cNvPr>
          <p:cNvSpPr/>
          <p:nvPr/>
        </p:nvSpPr>
        <p:spPr>
          <a:xfrm>
            <a:off x="704581" y="676351"/>
            <a:ext cx="10090428" cy="620078"/>
          </a:xfrm>
          <a:prstGeom prst="rect">
            <a:avLst/>
          </a:prstGeom>
          <a:noFill/>
          <a:ln/>
        </p:spPr>
        <p:txBody>
          <a:bodyPr wrap="none" lIns="0" tIns="0" rIns="0" bIns="0" rtlCol="0" anchor="t"/>
          <a:lstStyle/>
          <a:p>
            <a:pPr marL="0" indent="0" algn="l">
              <a:lnSpc>
                <a:spcPts val="4850"/>
              </a:lnSpc>
              <a:buNone/>
            </a:pPr>
            <a:r>
              <a:rPr lang="en-US" sz="3900" dirty="0">
                <a:solidFill>
                  <a:srgbClr val="F2E782"/>
                </a:solidFill>
                <a:latin typeface="Prata" pitchFamily="34" charset="0"/>
                <a:ea typeface="Prata" pitchFamily="34" charset="-122"/>
                <a:cs typeface="Prata" pitchFamily="34" charset="-120"/>
              </a:rPr>
              <a:t>Outlines</a:t>
            </a:r>
            <a:endParaRPr lang="en-US" sz="3900" dirty="0"/>
          </a:p>
        </p:txBody>
      </p:sp>
      <p:sp>
        <p:nvSpPr>
          <p:cNvPr id="3" name="Text 1">
            <a:extLst>
              <a:ext uri="{FF2B5EF4-FFF2-40B4-BE49-F238E27FC236}">
                <a16:creationId xmlns:a16="http://schemas.microsoft.com/office/drawing/2014/main" id="{A90AAFB3-4675-48E2-D54E-8100999B6689}"/>
              </a:ext>
            </a:extLst>
          </p:cNvPr>
          <p:cNvSpPr/>
          <p:nvPr/>
        </p:nvSpPr>
        <p:spPr>
          <a:xfrm>
            <a:off x="704581" y="1594084"/>
            <a:ext cx="13042821" cy="952619"/>
          </a:xfrm>
          <a:prstGeom prst="rect">
            <a:avLst/>
          </a:prstGeom>
          <a:noFill/>
          <a:ln/>
        </p:spPr>
        <p:txBody>
          <a:bodyPr wrap="square" lIns="0" tIns="0" rIns="0" bIns="0" rtlCol="0" anchor="t"/>
          <a:lstStyle/>
          <a:p>
            <a:pPr marL="285750" indent="-285750" algn="l">
              <a:lnSpc>
                <a:spcPct val="150000"/>
              </a:lnSpc>
              <a:buFont typeface="Arial" panose="020B0604020202020204" pitchFamily="34" charset="0"/>
              <a:buChar char="•"/>
            </a:pPr>
            <a:r>
              <a:rPr lang="en-US" sz="2800" dirty="0">
                <a:solidFill>
                  <a:srgbClr val="CFCBBF"/>
                </a:solidFill>
                <a:latin typeface="Raleway" pitchFamily="34" charset="0"/>
                <a:ea typeface="Raleway" pitchFamily="34" charset="-122"/>
                <a:cs typeface="Raleway" pitchFamily="34" charset="-120"/>
              </a:rPr>
              <a:t>Big picture of fMRI and BOLD signal (from pre-processing to processing)</a:t>
            </a:r>
          </a:p>
          <a:p>
            <a:pPr marL="285750" indent="-285750" algn="l">
              <a:lnSpc>
                <a:spcPct val="150000"/>
              </a:lnSpc>
              <a:buFont typeface="Arial" panose="020B0604020202020204" pitchFamily="34" charset="0"/>
              <a:buChar char="•"/>
            </a:pPr>
            <a:r>
              <a:rPr lang="en-US" sz="2800" dirty="0">
                <a:solidFill>
                  <a:srgbClr val="CFCBBF"/>
                </a:solidFill>
                <a:latin typeface="Raleway" pitchFamily="34" charset="0"/>
              </a:rPr>
              <a:t>Python toolkits overview (</a:t>
            </a:r>
            <a:r>
              <a:rPr lang="en-US" sz="2800" dirty="0" err="1">
                <a:solidFill>
                  <a:srgbClr val="CFCBBF"/>
                </a:solidFill>
                <a:latin typeface="Raleway" pitchFamily="34" charset="0"/>
              </a:rPr>
              <a:t>nilearn</a:t>
            </a:r>
            <a:r>
              <a:rPr lang="en-US" sz="2800" dirty="0">
                <a:solidFill>
                  <a:srgbClr val="CFCBBF"/>
                </a:solidFill>
                <a:latin typeface="Raleway" pitchFamily="34" charset="0"/>
              </a:rPr>
              <a:t>, </a:t>
            </a:r>
            <a:r>
              <a:rPr lang="en-US" sz="2800" dirty="0" err="1">
                <a:solidFill>
                  <a:srgbClr val="CFCBBF"/>
                </a:solidFill>
                <a:latin typeface="Raleway" pitchFamily="34" charset="0"/>
              </a:rPr>
              <a:t>nibabel</a:t>
            </a:r>
            <a:r>
              <a:rPr lang="en-US" sz="2800" dirty="0">
                <a:solidFill>
                  <a:srgbClr val="CFCBBF"/>
                </a:solidFill>
                <a:latin typeface="Raleway" pitchFamily="34" charset="0"/>
              </a:rPr>
              <a:t>, </a:t>
            </a:r>
            <a:r>
              <a:rPr lang="en-US" sz="2800" dirty="0" err="1">
                <a:solidFill>
                  <a:srgbClr val="CFCBBF"/>
                </a:solidFill>
                <a:latin typeface="Raleway" pitchFamily="34" charset="0"/>
              </a:rPr>
              <a:t>numpy</a:t>
            </a:r>
            <a:r>
              <a:rPr lang="en-US" sz="2800" dirty="0">
                <a:solidFill>
                  <a:srgbClr val="CFCBBF"/>
                </a:solidFill>
                <a:latin typeface="Raleway" pitchFamily="34" charset="0"/>
              </a:rPr>
              <a:t>, …)</a:t>
            </a:r>
          </a:p>
          <a:p>
            <a:pPr marL="285750" indent="-285750" algn="l">
              <a:lnSpc>
                <a:spcPct val="150000"/>
              </a:lnSpc>
              <a:buFont typeface="Arial" panose="020B0604020202020204" pitchFamily="34" charset="0"/>
              <a:buChar char="•"/>
            </a:pPr>
            <a:r>
              <a:rPr lang="en-US" sz="2800" dirty="0">
                <a:solidFill>
                  <a:srgbClr val="CFCBBF"/>
                </a:solidFill>
                <a:latin typeface="Raleway" pitchFamily="34" charset="0"/>
              </a:rPr>
              <a:t>Anatomical image visualization</a:t>
            </a:r>
          </a:p>
          <a:p>
            <a:pPr marL="285750" indent="-285750" algn="l">
              <a:lnSpc>
                <a:spcPct val="150000"/>
              </a:lnSpc>
              <a:buFont typeface="Arial" panose="020B0604020202020204" pitchFamily="34" charset="0"/>
              <a:buChar char="•"/>
            </a:pPr>
            <a:r>
              <a:rPr lang="en-US" sz="2800" dirty="0">
                <a:solidFill>
                  <a:srgbClr val="CFCBBF"/>
                </a:solidFill>
                <a:latin typeface="Raleway" pitchFamily="34" charset="0"/>
              </a:rPr>
              <a:t>Time series extraction and ROI definition</a:t>
            </a:r>
          </a:p>
          <a:p>
            <a:pPr marL="285750" indent="-285750" algn="l">
              <a:lnSpc>
                <a:spcPct val="150000"/>
              </a:lnSpc>
              <a:buFont typeface="Arial" panose="020B0604020202020204" pitchFamily="34" charset="0"/>
              <a:buChar char="•"/>
            </a:pPr>
            <a:r>
              <a:rPr lang="en-US" sz="2800" dirty="0">
                <a:solidFill>
                  <a:srgbClr val="CFCBBF"/>
                </a:solidFill>
                <a:latin typeface="Raleway" pitchFamily="34" charset="0"/>
              </a:rPr>
              <a:t>Basics of GLM pipeline</a:t>
            </a:r>
          </a:p>
          <a:p>
            <a:pPr marL="285750" indent="-285750" algn="l">
              <a:lnSpc>
                <a:spcPct val="150000"/>
              </a:lnSpc>
              <a:buFont typeface="Arial" panose="020B0604020202020204" pitchFamily="34" charset="0"/>
              <a:buChar char="•"/>
            </a:pPr>
            <a:r>
              <a:rPr lang="en-US" sz="2800" dirty="0">
                <a:solidFill>
                  <a:srgbClr val="CFCBBF"/>
                </a:solidFill>
                <a:latin typeface="Raleway" pitchFamily="34" charset="0"/>
              </a:rPr>
              <a:t>Functional Connectivity</a:t>
            </a:r>
          </a:p>
          <a:p>
            <a:pPr marL="285750" indent="-285750">
              <a:lnSpc>
                <a:spcPct val="150000"/>
              </a:lnSpc>
              <a:buFont typeface="Arial" panose="020B0604020202020204" pitchFamily="34" charset="0"/>
              <a:buChar char="•"/>
            </a:pPr>
            <a:r>
              <a:rPr lang="en-US" sz="2800" strike="sngStrike" dirty="0">
                <a:solidFill>
                  <a:srgbClr val="CFCBBF"/>
                </a:solidFill>
                <a:latin typeface="Raleway" pitchFamily="34" charset="0"/>
              </a:rPr>
              <a:t>Multivariate Pattern Analysis (MVPA)</a:t>
            </a:r>
          </a:p>
          <a:p>
            <a:pPr marL="285750" indent="-285750" algn="l">
              <a:lnSpc>
                <a:spcPct val="150000"/>
              </a:lnSpc>
              <a:buFont typeface="Arial" panose="020B0604020202020204" pitchFamily="34" charset="0"/>
              <a:buChar char="•"/>
            </a:pPr>
            <a:r>
              <a:rPr lang="en-US" sz="2800" strike="sngStrike" dirty="0">
                <a:solidFill>
                  <a:srgbClr val="CFCBBF"/>
                </a:solidFill>
                <a:latin typeface="Raleway" pitchFamily="34" charset="0"/>
              </a:rPr>
              <a:t>Open-Access datasets</a:t>
            </a:r>
          </a:p>
        </p:txBody>
      </p:sp>
    </p:spTree>
    <p:extLst>
      <p:ext uri="{BB962C8B-B14F-4D97-AF65-F5344CB8AC3E}">
        <p14:creationId xmlns:p14="http://schemas.microsoft.com/office/powerpoint/2010/main" val="2443159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3" name="Text 0"/>
          <p:cNvSpPr/>
          <p:nvPr/>
        </p:nvSpPr>
        <p:spPr>
          <a:xfrm>
            <a:off x="793790" y="3832146"/>
            <a:ext cx="10090428" cy="620078"/>
          </a:xfrm>
          <a:prstGeom prst="rect">
            <a:avLst/>
          </a:prstGeom>
          <a:noFill/>
          <a:ln/>
        </p:spPr>
        <p:txBody>
          <a:bodyPr wrap="none" lIns="0" tIns="0" rIns="0" bIns="0" rtlCol="0" anchor="t"/>
          <a:lstStyle/>
          <a:p>
            <a:pPr marL="0" indent="0" algn="l">
              <a:lnSpc>
                <a:spcPts val="4850"/>
              </a:lnSpc>
              <a:buNone/>
            </a:pPr>
            <a:r>
              <a:rPr lang="en-US" sz="3900" dirty="0">
                <a:solidFill>
                  <a:srgbClr val="F2E782"/>
                </a:solidFill>
                <a:latin typeface="Prata" pitchFamily="34" charset="0"/>
                <a:ea typeface="Prata" pitchFamily="34" charset="-122"/>
                <a:cs typeface="Prata" pitchFamily="34" charset="-120"/>
              </a:rPr>
              <a:t>Understanding fMRI and the BOLD Signal</a:t>
            </a:r>
            <a:endParaRPr lang="en-US" sz="3900" dirty="0"/>
          </a:p>
        </p:txBody>
      </p:sp>
      <p:sp>
        <p:nvSpPr>
          <p:cNvPr id="4" name="Text 1"/>
          <p:cNvSpPr/>
          <p:nvPr/>
        </p:nvSpPr>
        <p:spPr>
          <a:xfrm>
            <a:off x="793790" y="4749879"/>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CFCBBF"/>
                </a:solidFill>
                <a:latin typeface="Raleway" pitchFamily="34" charset="0"/>
                <a:ea typeface="Raleway" pitchFamily="34" charset="-122"/>
                <a:cs typeface="Raleway" pitchFamily="34" charset="-120"/>
              </a:rPr>
              <a:t>Functional Magnetic Resonance Imaging (fMRI) measures brain activity by detecting changes in blood flow. When neurons become active, they require more oxygen, leading to an increase in localized blood flow. This phenomenon is known as the BOLD (Blood-Oxygen-Level Dependent) signal.</a:t>
            </a:r>
            <a:endParaRPr lang="en-US" sz="1550" dirty="0"/>
          </a:p>
        </p:txBody>
      </p:sp>
      <p:sp>
        <p:nvSpPr>
          <p:cNvPr id="5" name="Text 2"/>
          <p:cNvSpPr/>
          <p:nvPr/>
        </p:nvSpPr>
        <p:spPr>
          <a:xfrm>
            <a:off x="793790" y="5925741"/>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CFCBBF"/>
                </a:solidFill>
                <a:latin typeface="Raleway" pitchFamily="34" charset="0"/>
                <a:ea typeface="Raleway" pitchFamily="34" charset="-122"/>
                <a:cs typeface="Raleway" pitchFamily="34" charset="-120"/>
              </a:rPr>
              <a:t>The BOLD signal is an indirect measure of neural activity. It relies on the difference in magnetic properties between oxygenated and deoxygenated hemoglobin. Active brain regions show a higher ratio of oxygenated to deoxygenated blood, which is what the fMRI scanner detects.</a:t>
            </a:r>
            <a:endParaRPr lang="en-US" sz="1550" dirty="0"/>
          </a:p>
        </p:txBody>
      </p:sp>
      <p:pic>
        <p:nvPicPr>
          <p:cNvPr id="6" name="Image 0" descr="preencoded.png">
            <a:extLst>
              <a:ext uri="{FF2B5EF4-FFF2-40B4-BE49-F238E27FC236}">
                <a16:creationId xmlns:a16="http://schemas.microsoft.com/office/drawing/2014/main" id="{5FC0C716-0A2A-9470-7146-4A8B611EFABF}"/>
              </a:ext>
            </a:extLst>
          </p:cNvPr>
          <p:cNvPicPr>
            <a:picLocks noChangeAspect="1"/>
          </p:cNvPicPr>
          <p:nvPr/>
        </p:nvPicPr>
        <p:blipFill>
          <a:blip r:embed="rId3"/>
          <a:stretch>
            <a:fillRect/>
          </a:stretch>
        </p:blipFill>
        <p:spPr>
          <a:xfrm>
            <a:off x="0" y="0"/>
            <a:ext cx="14630400" cy="248090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793790" y="560189"/>
            <a:ext cx="8732520" cy="620078"/>
          </a:xfrm>
          <a:prstGeom prst="rect">
            <a:avLst/>
          </a:prstGeom>
          <a:noFill/>
          <a:ln/>
        </p:spPr>
        <p:txBody>
          <a:bodyPr wrap="none" lIns="0" tIns="0" rIns="0" bIns="0" rtlCol="0" anchor="t"/>
          <a:lstStyle/>
          <a:p>
            <a:pPr marL="0" indent="0" algn="l">
              <a:lnSpc>
                <a:spcPts val="4850"/>
              </a:lnSpc>
              <a:buNone/>
            </a:pPr>
            <a:r>
              <a:rPr lang="en-US" sz="3900" dirty="0">
                <a:solidFill>
                  <a:srgbClr val="F2E782"/>
                </a:solidFill>
                <a:latin typeface="Prata" pitchFamily="34" charset="0"/>
                <a:ea typeface="Prata" pitchFamily="34" charset="-122"/>
                <a:cs typeface="Prata" pitchFamily="34" charset="-120"/>
              </a:rPr>
              <a:t>The Python Toolkit for fMRI Analysis</a:t>
            </a:r>
            <a:endParaRPr lang="en-US" sz="3900" dirty="0"/>
          </a:p>
        </p:txBody>
      </p:sp>
      <p:sp>
        <p:nvSpPr>
          <p:cNvPr id="3" name="Text 1"/>
          <p:cNvSpPr/>
          <p:nvPr/>
        </p:nvSpPr>
        <p:spPr>
          <a:xfrm>
            <a:off x="793790" y="1577102"/>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CFCBBF"/>
                </a:solidFill>
                <a:latin typeface="Raleway" pitchFamily="34" charset="0"/>
                <a:ea typeface="Raleway" pitchFamily="34" charset="-122"/>
                <a:cs typeface="Raleway" pitchFamily="34" charset="-120"/>
              </a:rPr>
              <a:t>Python offers a powerful and flexible ecosystem for fMRI data analysis. Key libraries provide specialized tools for handling neuroimaging data, numerical operations, and visualization.</a:t>
            </a:r>
            <a:endParaRPr lang="en-US" sz="1550" dirty="0"/>
          </a:p>
        </p:txBody>
      </p:sp>
      <p:sp>
        <p:nvSpPr>
          <p:cNvPr id="4" name="Shape 2"/>
          <p:cNvSpPr/>
          <p:nvPr/>
        </p:nvSpPr>
        <p:spPr>
          <a:xfrm>
            <a:off x="823555" y="2646759"/>
            <a:ext cx="535781" cy="619125"/>
          </a:xfrm>
          <a:prstGeom prst="roundRect">
            <a:avLst>
              <a:gd name="adj" fmla="val 10240"/>
            </a:avLst>
          </a:prstGeom>
          <a:solidFill>
            <a:srgbClr val="4D4D51"/>
          </a:solidFill>
          <a:ln/>
        </p:spPr>
      </p:sp>
      <p:pic>
        <p:nvPicPr>
          <p:cNvPr id="5" name="Image 0" descr="preencoded.png"/>
          <p:cNvPicPr>
            <a:picLocks noChangeAspect="1"/>
          </p:cNvPicPr>
          <p:nvPr/>
        </p:nvPicPr>
        <p:blipFill>
          <a:blip r:embed="rId3"/>
          <a:stretch>
            <a:fillRect/>
          </a:stretch>
        </p:blipFill>
        <p:spPr>
          <a:xfrm>
            <a:off x="793790" y="2658666"/>
            <a:ext cx="595313" cy="595313"/>
          </a:xfrm>
          <a:prstGeom prst="rect">
            <a:avLst/>
          </a:prstGeom>
        </p:spPr>
      </p:pic>
      <p:sp>
        <p:nvSpPr>
          <p:cNvPr id="6" name="Text 3"/>
          <p:cNvSpPr/>
          <p:nvPr/>
        </p:nvSpPr>
        <p:spPr>
          <a:xfrm>
            <a:off x="793790" y="3501985"/>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FCBBF"/>
                </a:solidFill>
                <a:latin typeface="Prata" pitchFamily="34" charset="0"/>
                <a:ea typeface="Prata" pitchFamily="34" charset="-122"/>
                <a:cs typeface="Prata" pitchFamily="34" charset="-120"/>
              </a:rPr>
              <a:t>Nilearn</a:t>
            </a:r>
            <a:endParaRPr lang="en-US" sz="1950" dirty="0"/>
          </a:p>
        </p:txBody>
      </p:sp>
      <p:sp>
        <p:nvSpPr>
          <p:cNvPr id="7" name="Text 4"/>
          <p:cNvSpPr/>
          <p:nvPr/>
        </p:nvSpPr>
        <p:spPr>
          <a:xfrm>
            <a:off x="793790" y="4010501"/>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CFCBBF"/>
                </a:solidFill>
                <a:latin typeface="Raleway" pitchFamily="34" charset="0"/>
                <a:ea typeface="Raleway" pitchFamily="34" charset="-122"/>
                <a:cs typeface="Raleway" pitchFamily="34" charset="-120"/>
              </a:rPr>
              <a:t>A Python module for efficient and user-friendly neuroimaging data analysis, providing tools for statistical analysis, machine learning, and visualization.</a:t>
            </a:r>
            <a:endParaRPr lang="en-US" sz="1550" dirty="0"/>
          </a:p>
        </p:txBody>
      </p:sp>
      <p:sp>
        <p:nvSpPr>
          <p:cNvPr id="8" name="Shape 5"/>
          <p:cNvSpPr/>
          <p:nvPr/>
        </p:nvSpPr>
        <p:spPr>
          <a:xfrm>
            <a:off x="823555" y="5447348"/>
            <a:ext cx="535781" cy="619125"/>
          </a:xfrm>
          <a:prstGeom prst="roundRect">
            <a:avLst>
              <a:gd name="adj" fmla="val 10240"/>
            </a:avLst>
          </a:prstGeom>
          <a:solidFill>
            <a:srgbClr val="4D4D51"/>
          </a:solidFill>
          <a:ln/>
        </p:spPr>
      </p:sp>
      <p:pic>
        <p:nvPicPr>
          <p:cNvPr id="9" name="Image 1" descr="preencoded.png"/>
          <p:cNvPicPr>
            <a:picLocks noChangeAspect="1"/>
          </p:cNvPicPr>
          <p:nvPr/>
        </p:nvPicPr>
        <p:blipFill>
          <a:blip r:embed="rId3"/>
          <a:stretch>
            <a:fillRect/>
          </a:stretch>
        </p:blipFill>
        <p:spPr>
          <a:xfrm>
            <a:off x="793790" y="5459254"/>
            <a:ext cx="595313" cy="595313"/>
          </a:xfrm>
          <a:prstGeom prst="rect">
            <a:avLst/>
          </a:prstGeom>
        </p:spPr>
      </p:pic>
      <p:sp>
        <p:nvSpPr>
          <p:cNvPr id="10" name="Text 6"/>
          <p:cNvSpPr/>
          <p:nvPr/>
        </p:nvSpPr>
        <p:spPr>
          <a:xfrm>
            <a:off x="793790" y="630257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FCBBF"/>
                </a:solidFill>
                <a:latin typeface="Prata" pitchFamily="34" charset="0"/>
                <a:ea typeface="Prata" pitchFamily="34" charset="-122"/>
                <a:cs typeface="Prata" pitchFamily="34" charset="-120"/>
              </a:rPr>
              <a:t>NiBabel</a:t>
            </a:r>
            <a:endParaRPr lang="en-US" sz="1950" dirty="0"/>
          </a:p>
        </p:txBody>
      </p:sp>
      <p:sp>
        <p:nvSpPr>
          <p:cNvPr id="11" name="Text 7"/>
          <p:cNvSpPr/>
          <p:nvPr/>
        </p:nvSpPr>
        <p:spPr>
          <a:xfrm>
            <a:off x="793790" y="6811089"/>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CFCBBF"/>
                </a:solidFill>
                <a:latin typeface="Raleway" pitchFamily="34" charset="0"/>
                <a:ea typeface="Raleway" pitchFamily="34" charset="-122"/>
                <a:cs typeface="Raleway" pitchFamily="34" charset="-120"/>
              </a:rPr>
              <a:t>Handles various neuroimaging file formats (like NIfTI) in Python, allowing for robust data loading, manipulation, and saving.</a:t>
            </a:r>
            <a:endParaRPr lang="en-US" sz="1550" dirty="0"/>
          </a:p>
        </p:txBody>
      </p:sp>
      <p:sp>
        <p:nvSpPr>
          <p:cNvPr id="12" name="Shape 8"/>
          <p:cNvSpPr/>
          <p:nvPr/>
        </p:nvSpPr>
        <p:spPr>
          <a:xfrm>
            <a:off x="7594640" y="2646759"/>
            <a:ext cx="535781" cy="619125"/>
          </a:xfrm>
          <a:prstGeom prst="roundRect">
            <a:avLst>
              <a:gd name="adj" fmla="val 10240"/>
            </a:avLst>
          </a:prstGeom>
          <a:solidFill>
            <a:srgbClr val="4D4D51"/>
          </a:solidFill>
          <a:ln/>
        </p:spPr>
      </p:sp>
      <p:pic>
        <p:nvPicPr>
          <p:cNvPr id="13" name="Image 2" descr="preencoded.png"/>
          <p:cNvPicPr>
            <a:picLocks noChangeAspect="1"/>
          </p:cNvPicPr>
          <p:nvPr/>
        </p:nvPicPr>
        <p:blipFill>
          <a:blip r:embed="rId3"/>
          <a:stretch>
            <a:fillRect/>
          </a:stretch>
        </p:blipFill>
        <p:spPr>
          <a:xfrm>
            <a:off x="7564874" y="2658666"/>
            <a:ext cx="595313" cy="595313"/>
          </a:xfrm>
          <a:prstGeom prst="rect">
            <a:avLst/>
          </a:prstGeom>
        </p:spPr>
      </p:pic>
      <p:sp>
        <p:nvSpPr>
          <p:cNvPr id="14" name="Text 9"/>
          <p:cNvSpPr/>
          <p:nvPr/>
        </p:nvSpPr>
        <p:spPr>
          <a:xfrm>
            <a:off x="7564874" y="3501985"/>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FCBBF"/>
                </a:solidFill>
                <a:latin typeface="Prata" pitchFamily="34" charset="0"/>
                <a:ea typeface="Prata" pitchFamily="34" charset="-122"/>
                <a:cs typeface="Prata" pitchFamily="34" charset="-120"/>
              </a:rPr>
              <a:t>NumPy</a:t>
            </a:r>
            <a:endParaRPr lang="en-US" sz="1950" dirty="0"/>
          </a:p>
        </p:txBody>
      </p:sp>
      <p:sp>
        <p:nvSpPr>
          <p:cNvPr id="15" name="Text 10"/>
          <p:cNvSpPr/>
          <p:nvPr/>
        </p:nvSpPr>
        <p:spPr>
          <a:xfrm>
            <a:off x="7564874" y="4010501"/>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CFCBBF"/>
                </a:solidFill>
                <a:latin typeface="Raleway" pitchFamily="34" charset="0"/>
                <a:ea typeface="Raleway" pitchFamily="34" charset="-122"/>
                <a:cs typeface="Raleway" pitchFamily="34" charset="-120"/>
              </a:rPr>
              <a:t>The fundamental package for numerical computation in Python, essential for array operations and mathematical functions on imaging data.</a:t>
            </a:r>
            <a:endParaRPr lang="en-US" sz="1550" dirty="0"/>
          </a:p>
        </p:txBody>
      </p:sp>
      <p:sp>
        <p:nvSpPr>
          <p:cNvPr id="16" name="Shape 11"/>
          <p:cNvSpPr/>
          <p:nvPr/>
        </p:nvSpPr>
        <p:spPr>
          <a:xfrm>
            <a:off x="7594640" y="5447348"/>
            <a:ext cx="535781" cy="619125"/>
          </a:xfrm>
          <a:prstGeom prst="roundRect">
            <a:avLst>
              <a:gd name="adj" fmla="val 10240"/>
            </a:avLst>
          </a:prstGeom>
          <a:solidFill>
            <a:srgbClr val="4D4D51"/>
          </a:solidFill>
          <a:ln/>
        </p:spPr>
      </p:sp>
      <p:pic>
        <p:nvPicPr>
          <p:cNvPr id="17" name="Image 3" descr="preencoded.png"/>
          <p:cNvPicPr>
            <a:picLocks noChangeAspect="1"/>
          </p:cNvPicPr>
          <p:nvPr/>
        </p:nvPicPr>
        <p:blipFill>
          <a:blip r:embed="rId3"/>
          <a:stretch>
            <a:fillRect/>
          </a:stretch>
        </p:blipFill>
        <p:spPr>
          <a:xfrm>
            <a:off x="7564874" y="5459254"/>
            <a:ext cx="595313" cy="595313"/>
          </a:xfrm>
          <a:prstGeom prst="rect">
            <a:avLst/>
          </a:prstGeom>
        </p:spPr>
      </p:pic>
      <p:sp>
        <p:nvSpPr>
          <p:cNvPr id="18" name="Text 12"/>
          <p:cNvSpPr/>
          <p:nvPr/>
        </p:nvSpPr>
        <p:spPr>
          <a:xfrm>
            <a:off x="7564874" y="630257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FCBBF"/>
                </a:solidFill>
                <a:latin typeface="Prata" pitchFamily="34" charset="0"/>
                <a:ea typeface="Prata" pitchFamily="34" charset="-122"/>
                <a:cs typeface="Prata" pitchFamily="34" charset="-120"/>
              </a:rPr>
              <a:t>Matplotlib</a:t>
            </a:r>
            <a:endParaRPr lang="en-US" sz="1950" dirty="0"/>
          </a:p>
        </p:txBody>
      </p:sp>
      <p:sp>
        <p:nvSpPr>
          <p:cNvPr id="19" name="Text 13"/>
          <p:cNvSpPr/>
          <p:nvPr/>
        </p:nvSpPr>
        <p:spPr>
          <a:xfrm>
            <a:off x="7564874" y="6811089"/>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CFCBBF"/>
                </a:solidFill>
                <a:latin typeface="Raleway" pitchFamily="34" charset="0"/>
                <a:ea typeface="Raleway" pitchFamily="34" charset="-122"/>
                <a:cs typeface="Raleway" pitchFamily="34" charset="-120"/>
              </a:rPr>
              <a:t>A comprehensive library for creating static, animated, and interactive visualizations in Python, crucial for plotting fMRI results.</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3" name="Text 0"/>
          <p:cNvSpPr/>
          <p:nvPr/>
        </p:nvSpPr>
        <p:spPr>
          <a:xfrm>
            <a:off x="6280190" y="2162532"/>
            <a:ext cx="7236143" cy="620078"/>
          </a:xfrm>
          <a:prstGeom prst="rect">
            <a:avLst/>
          </a:prstGeom>
          <a:noFill/>
          <a:ln/>
        </p:spPr>
        <p:txBody>
          <a:bodyPr wrap="none" lIns="0" tIns="0" rIns="0" bIns="0" rtlCol="0" anchor="t"/>
          <a:lstStyle/>
          <a:p>
            <a:pPr marL="0" indent="0" algn="l">
              <a:lnSpc>
                <a:spcPts val="4850"/>
              </a:lnSpc>
              <a:buNone/>
            </a:pPr>
            <a:r>
              <a:rPr lang="en-US" sz="3900" dirty="0">
                <a:solidFill>
                  <a:srgbClr val="F2E782"/>
                </a:solidFill>
                <a:latin typeface="Prata" pitchFamily="34" charset="0"/>
                <a:ea typeface="Prata" pitchFamily="34" charset="-122"/>
                <a:cs typeface="Prata" pitchFamily="34" charset="-120"/>
              </a:rPr>
              <a:t>Visualizing fMRI Images</a:t>
            </a:r>
            <a:endParaRPr lang="en-US" sz="3900" dirty="0"/>
          </a:p>
        </p:txBody>
      </p:sp>
      <p:sp>
        <p:nvSpPr>
          <p:cNvPr id="4" name="Text 1"/>
          <p:cNvSpPr/>
          <p:nvPr/>
        </p:nvSpPr>
        <p:spPr>
          <a:xfrm>
            <a:off x="6280190" y="3080266"/>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CFCBBF"/>
                </a:solidFill>
                <a:latin typeface="Raleway" pitchFamily="34" charset="0"/>
                <a:ea typeface="Raleway" pitchFamily="34" charset="-122"/>
                <a:cs typeface="Raleway" pitchFamily="34" charset="-120"/>
              </a:rPr>
              <a:t>Anatomical images provide a high-resolution structural reference of the brain. They are typically T1-weighted scans and are crucial for understanding the location of functional activations.</a:t>
            </a:r>
            <a:endParaRPr lang="en-US" sz="1550" dirty="0"/>
          </a:p>
        </p:txBody>
      </p:sp>
      <p:sp>
        <p:nvSpPr>
          <p:cNvPr id="5" name="Text 2"/>
          <p:cNvSpPr/>
          <p:nvPr/>
        </p:nvSpPr>
        <p:spPr>
          <a:xfrm>
            <a:off x="6280190" y="4256127"/>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CFCBBF"/>
                </a:solidFill>
                <a:latin typeface="Raleway" pitchFamily="34" charset="0"/>
                <a:ea typeface="Raleway" pitchFamily="34" charset="-122"/>
                <a:cs typeface="Raleway" pitchFamily="34" charset="-120"/>
              </a:rPr>
              <a:t>Visualizing anatomical data in different planes (sagittal, coronal, axial) helps in understanding the brain's 3D structure and orienting yourself within the dataset.</a:t>
            </a:r>
            <a:endParaRPr lang="en-US" sz="1550" dirty="0"/>
          </a:p>
        </p:txBody>
      </p:sp>
      <p:sp>
        <p:nvSpPr>
          <p:cNvPr id="6" name="Text 3"/>
          <p:cNvSpPr/>
          <p:nvPr/>
        </p:nvSpPr>
        <p:spPr>
          <a:xfrm>
            <a:off x="6280190" y="5114449"/>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CFCBBF"/>
                </a:solidFill>
                <a:latin typeface="Raleway" pitchFamily="34" charset="0"/>
                <a:ea typeface="Raleway" pitchFamily="34" charset="-122"/>
                <a:cs typeface="Raleway" pitchFamily="34" charset="-120"/>
              </a:rPr>
              <a:t>These slices represent different perspectives: sagittal (side view), coronal (front view), and axial (top-down view). Understanding these orientations is fundamental for accurate neuroimaging analysis.</a:t>
            </a:r>
            <a:endParaRPr lang="en-US" sz="1550" dirty="0"/>
          </a:p>
        </p:txBody>
      </p:sp>
      <p:pic>
        <p:nvPicPr>
          <p:cNvPr id="3074" name="Picture 2">
            <a:extLst>
              <a:ext uri="{FF2B5EF4-FFF2-40B4-BE49-F238E27FC236}">
                <a16:creationId xmlns:a16="http://schemas.microsoft.com/office/drawing/2014/main" id="{12058A14-BEA2-117D-5034-A4B561E6FA6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259" t="-1" r="14547" b="49594"/>
          <a:stretch>
            <a:fillRect/>
          </a:stretch>
        </p:blipFill>
        <p:spPr bwMode="auto">
          <a:xfrm>
            <a:off x="133815" y="1600277"/>
            <a:ext cx="5642517" cy="187947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EA5DA245-F973-3840-704C-B2BCFFC02D2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6184" r="51954"/>
          <a:stretch>
            <a:fillRect/>
          </a:stretch>
        </p:blipFill>
        <p:spPr bwMode="auto">
          <a:xfrm>
            <a:off x="-180626" y="3628582"/>
            <a:ext cx="6214079" cy="30956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sp>
        <p:nvSpPr>
          <p:cNvPr id="3" name="Text 0"/>
          <p:cNvSpPr/>
          <p:nvPr/>
        </p:nvSpPr>
        <p:spPr>
          <a:xfrm>
            <a:off x="793790" y="2162532"/>
            <a:ext cx="7554158" cy="620078"/>
          </a:xfrm>
          <a:prstGeom prst="rect">
            <a:avLst/>
          </a:prstGeom>
          <a:noFill/>
          <a:ln/>
        </p:spPr>
        <p:txBody>
          <a:bodyPr wrap="none" lIns="0" tIns="0" rIns="0" bIns="0" rtlCol="0" anchor="t"/>
          <a:lstStyle/>
          <a:p>
            <a:pPr marL="0" indent="0" algn="l">
              <a:lnSpc>
                <a:spcPts val="4850"/>
              </a:lnSpc>
              <a:buNone/>
            </a:pPr>
            <a:r>
              <a:rPr lang="en-US" sz="3900" dirty="0">
                <a:solidFill>
                  <a:srgbClr val="F2E782"/>
                </a:solidFill>
                <a:latin typeface="Prata" pitchFamily="34" charset="0"/>
                <a:ea typeface="Prata" pitchFamily="34" charset="-122"/>
                <a:cs typeface="Prata" pitchFamily="34" charset="-120"/>
              </a:rPr>
              <a:t>Functional Overlay on Anatomy</a:t>
            </a:r>
            <a:endParaRPr lang="en-US" sz="3900" dirty="0"/>
          </a:p>
        </p:txBody>
      </p:sp>
      <p:sp>
        <p:nvSpPr>
          <p:cNvPr id="4" name="Text 1"/>
          <p:cNvSpPr/>
          <p:nvPr/>
        </p:nvSpPr>
        <p:spPr>
          <a:xfrm>
            <a:off x="793790" y="3080266"/>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CFCBBF"/>
                </a:solidFill>
                <a:latin typeface="Raleway" pitchFamily="34" charset="0"/>
                <a:ea typeface="Raleway" pitchFamily="34" charset="-122"/>
                <a:cs typeface="Raleway" pitchFamily="34" charset="-120"/>
              </a:rPr>
              <a:t>Once functional activity is analyzed, the results (e.g., statistical maps) are often overlaid on the anatomical image to contextualize the findings within the brain's structure.</a:t>
            </a:r>
            <a:endParaRPr lang="en-US" sz="1550" dirty="0"/>
          </a:p>
        </p:txBody>
      </p:sp>
      <p:sp>
        <p:nvSpPr>
          <p:cNvPr id="5" name="Text 2"/>
          <p:cNvSpPr/>
          <p:nvPr/>
        </p:nvSpPr>
        <p:spPr>
          <a:xfrm>
            <a:off x="793790" y="4256127"/>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CFCBBF"/>
                </a:solidFill>
                <a:latin typeface="Raleway" pitchFamily="34" charset="0"/>
                <a:ea typeface="Raleway" pitchFamily="34" charset="-122"/>
                <a:cs typeface="Raleway" pitchFamily="34" charset="-120"/>
              </a:rPr>
              <a:t>This process allows researchers to pinpoint exactly where brain activity is occurring in relation to specific anatomical landmarks. Nilearn provides excellent tools for this visualization, often showing activity as a heatmap.</a:t>
            </a:r>
            <a:endParaRPr lang="en-US" sz="1550" dirty="0"/>
          </a:p>
        </p:txBody>
      </p:sp>
      <p:sp>
        <p:nvSpPr>
          <p:cNvPr id="6" name="Text 3"/>
          <p:cNvSpPr/>
          <p:nvPr/>
        </p:nvSpPr>
        <p:spPr>
          <a:xfrm>
            <a:off x="793790" y="5431988"/>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CFCBBF"/>
                </a:solidFill>
                <a:latin typeface="Raleway" pitchFamily="34" charset="0"/>
                <a:ea typeface="Raleway" pitchFamily="34" charset="-122"/>
                <a:cs typeface="Raleway" pitchFamily="34" charset="-120"/>
              </a:rPr>
              <a:t>The heatmap indicates regions of significant activity, with different colors often representing varying levels of statistical significance or activation intensity.</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sp>
        <p:nvSpPr>
          <p:cNvPr id="2" name="Text 0"/>
          <p:cNvSpPr/>
          <p:nvPr/>
        </p:nvSpPr>
        <p:spPr>
          <a:xfrm>
            <a:off x="626745" y="430887"/>
            <a:ext cx="6040160" cy="391716"/>
          </a:xfrm>
          <a:prstGeom prst="rect">
            <a:avLst/>
          </a:prstGeom>
          <a:noFill/>
          <a:ln/>
        </p:spPr>
        <p:txBody>
          <a:bodyPr wrap="none" lIns="0" tIns="0" rIns="0" bIns="0" rtlCol="0" anchor="t"/>
          <a:lstStyle/>
          <a:p>
            <a:pPr marL="0" indent="0" algn="l">
              <a:lnSpc>
                <a:spcPts val="3050"/>
              </a:lnSpc>
              <a:buNone/>
            </a:pPr>
            <a:r>
              <a:rPr lang="en-US" sz="2450" dirty="0">
                <a:solidFill>
                  <a:srgbClr val="F2E782"/>
                </a:solidFill>
                <a:latin typeface="Prata" pitchFamily="34" charset="0"/>
                <a:ea typeface="Prata" pitchFamily="34" charset="-122"/>
                <a:cs typeface="Prata" pitchFamily="34" charset="-120"/>
              </a:rPr>
              <a:t>Time Series Extraction with NiftiMasker</a:t>
            </a:r>
            <a:endParaRPr lang="en-US" sz="2450" dirty="0"/>
          </a:p>
        </p:txBody>
      </p:sp>
      <p:sp>
        <p:nvSpPr>
          <p:cNvPr id="3" name="Text 1"/>
          <p:cNvSpPr/>
          <p:nvPr/>
        </p:nvSpPr>
        <p:spPr>
          <a:xfrm>
            <a:off x="626745" y="1073229"/>
            <a:ext cx="13376910" cy="200501"/>
          </a:xfrm>
          <a:prstGeom prst="rect">
            <a:avLst/>
          </a:prstGeom>
          <a:noFill/>
          <a:ln/>
        </p:spPr>
        <p:txBody>
          <a:bodyPr wrap="none" lIns="0" tIns="0" rIns="0" bIns="0" rtlCol="0" anchor="t"/>
          <a:lstStyle/>
          <a:p>
            <a:pPr marL="0" indent="0" algn="l">
              <a:lnSpc>
                <a:spcPts val="1550"/>
              </a:lnSpc>
              <a:buNone/>
            </a:pPr>
            <a:r>
              <a:rPr lang="en-US" sz="950" dirty="0">
                <a:solidFill>
                  <a:srgbClr val="CFCBBF"/>
                </a:solidFill>
                <a:latin typeface="Raleway" pitchFamily="34" charset="0"/>
                <a:ea typeface="Raleway" pitchFamily="34" charset="-122"/>
                <a:cs typeface="Raleway" pitchFamily="34" charset="-120"/>
              </a:rPr>
              <a:t>The BOLD signal is a time series, representing changes in blood flow over the duration of the scan. Extracting these time courses from specific brain regions is a crucial step for further analysis.</a:t>
            </a:r>
            <a:endParaRPr lang="en-US" sz="950" dirty="0"/>
          </a:p>
        </p:txBody>
      </p:sp>
      <p:sp>
        <p:nvSpPr>
          <p:cNvPr id="4" name="Text 2"/>
          <p:cNvSpPr/>
          <p:nvPr/>
        </p:nvSpPr>
        <p:spPr>
          <a:xfrm>
            <a:off x="626745" y="1414701"/>
            <a:ext cx="13376910" cy="208121"/>
          </a:xfrm>
          <a:prstGeom prst="rect">
            <a:avLst/>
          </a:prstGeom>
          <a:noFill/>
          <a:ln/>
        </p:spPr>
        <p:txBody>
          <a:bodyPr wrap="none" lIns="0" tIns="0" rIns="0" bIns="0" rtlCol="0" anchor="t"/>
          <a:lstStyle/>
          <a:p>
            <a:pPr marL="0" indent="0" algn="l">
              <a:lnSpc>
                <a:spcPts val="1550"/>
              </a:lnSpc>
              <a:buNone/>
            </a:pPr>
            <a:r>
              <a:rPr lang="en-US" sz="950" dirty="0">
                <a:solidFill>
                  <a:srgbClr val="CFCBBF"/>
                </a:solidFill>
                <a:latin typeface="Raleway" pitchFamily="34" charset="0"/>
                <a:ea typeface="Raleway" pitchFamily="34" charset="-122"/>
                <a:cs typeface="Raleway" pitchFamily="34" charset="-120"/>
              </a:rPr>
              <a:t>Nilearn's </a:t>
            </a:r>
            <a:r>
              <a:rPr lang="en-US" sz="950" dirty="0">
                <a:solidFill>
                  <a:srgbClr val="CFCBBF"/>
                </a:solidFill>
                <a:highlight>
                  <a:srgbClr val="443D09"/>
                </a:highlight>
                <a:latin typeface="Consolas" pitchFamily="34" charset="0"/>
                <a:ea typeface="Consolas" pitchFamily="34" charset="-122"/>
                <a:cs typeface="Consolas" pitchFamily="34" charset="-120"/>
              </a:rPr>
              <a:t>NiftiMasker</a:t>
            </a:r>
            <a:r>
              <a:rPr lang="en-US" sz="950" dirty="0">
                <a:solidFill>
                  <a:srgbClr val="CFCBBF"/>
                </a:solidFill>
                <a:latin typeface="Raleway" pitchFamily="34" charset="0"/>
                <a:ea typeface="Raleway" pitchFamily="34" charset="-122"/>
                <a:cs typeface="Raleway" pitchFamily="34" charset="-120"/>
              </a:rPr>
              <a:t> simplifies this process, allowing you to extract signals from specified masks (e.g., whole brain, specific regions of interest) and prepare them for statistical modeling.</a:t>
            </a:r>
            <a:endParaRPr lang="en-US" sz="950" dirty="0"/>
          </a:p>
        </p:txBody>
      </p:sp>
      <p:sp>
        <p:nvSpPr>
          <p:cNvPr id="5" name="Shape 3"/>
          <p:cNvSpPr/>
          <p:nvPr/>
        </p:nvSpPr>
        <p:spPr>
          <a:xfrm>
            <a:off x="626745" y="1904762"/>
            <a:ext cx="6535579" cy="3395901"/>
          </a:xfrm>
          <a:prstGeom prst="roundRect">
            <a:avLst>
              <a:gd name="adj" fmla="val 554"/>
            </a:avLst>
          </a:prstGeom>
          <a:solidFill>
            <a:srgbClr val="443D09"/>
          </a:solidFill>
          <a:ln/>
        </p:spPr>
      </p:sp>
      <p:sp>
        <p:nvSpPr>
          <p:cNvPr id="6" name="Shape 4"/>
          <p:cNvSpPr/>
          <p:nvPr/>
        </p:nvSpPr>
        <p:spPr>
          <a:xfrm>
            <a:off x="620554" y="1904762"/>
            <a:ext cx="6547961" cy="3395901"/>
          </a:xfrm>
          <a:prstGeom prst="roundRect">
            <a:avLst>
              <a:gd name="adj" fmla="val 554"/>
            </a:avLst>
          </a:prstGeom>
          <a:solidFill>
            <a:srgbClr val="443D09"/>
          </a:solidFill>
          <a:ln/>
        </p:spPr>
      </p:sp>
      <p:sp>
        <p:nvSpPr>
          <p:cNvPr id="7" name="Text 5"/>
          <p:cNvSpPr/>
          <p:nvPr/>
        </p:nvSpPr>
        <p:spPr>
          <a:xfrm>
            <a:off x="745808" y="1998702"/>
            <a:ext cx="5921098" cy="3208020"/>
          </a:xfrm>
          <a:prstGeom prst="rect">
            <a:avLst/>
          </a:prstGeom>
          <a:noFill/>
          <a:ln/>
        </p:spPr>
        <p:txBody>
          <a:bodyPr wrap="square" lIns="0" tIns="0" rIns="0" bIns="0" rtlCol="0" anchor="t"/>
          <a:lstStyle/>
          <a:p>
            <a:pPr marL="0" indent="0" algn="l">
              <a:lnSpc>
                <a:spcPts val="1550"/>
              </a:lnSpc>
              <a:buNone/>
            </a:pPr>
            <a:r>
              <a:rPr lang="en-US" sz="950" dirty="0">
                <a:solidFill>
                  <a:srgbClr val="CFCBBF"/>
                </a:solidFill>
                <a:highlight>
                  <a:srgbClr val="443D09"/>
                </a:highlight>
                <a:latin typeface="Consolas" pitchFamily="34" charset="0"/>
                <a:ea typeface="Consolas" pitchFamily="34" charset="-122"/>
                <a:cs typeface="Consolas" pitchFamily="34" charset="-120"/>
              </a:rPr>
              <a:t>from nilearn.maskers import </a:t>
            </a:r>
            <a:r>
              <a:rPr lang="en-US" sz="950" dirty="0" err="1">
                <a:solidFill>
                  <a:srgbClr val="CFCBBF"/>
                </a:solidFill>
                <a:highlight>
                  <a:srgbClr val="443D09"/>
                </a:highlight>
                <a:latin typeface="Consolas" pitchFamily="34" charset="0"/>
                <a:ea typeface="Consolas" pitchFamily="34" charset="-122"/>
                <a:cs typeface="Consolas" pitchFamily="34" charset="-120"/>
              </a:rPr>
              <a:t>NiftiMasker</a:t>
            </a:r>
            <a:endParaRPr lang="en-US" sz="950" dirty="0">
              <a:solidFill>
                <a:srgbClr val="CFCBBF"/>
              </a:solidFill>
              <a:highlight>
                <a:srgbClr val="443D09"/>
              </a:highlight>
              <a:latin typeface="Consolas" pitchFamily="34" charset="0"/>
              <a:ea typeface="Consolas" pitchFamily="34" charset="-122"/>
              <a:cs typeface="Consolas" pitchFamily="34" charset="-120"/>
            </a:endParaRPr>
          </a:p>
          <a:p>
            <a:pPr marL="0" indent="0" algn="l">
              <a:lnSpc>
                <a:spcPts val="1550"/>
              </a:lnSpc>
              <a:buNone/>
            </a:pPr>
            <a:r>
              <a:rPr lang="en-US" sz="950" dirty="0">
                <a:solidFill>
                  <a:srgbClr val="CFCBBF"/>
                </a:solidFill>
                <a:highlight>
                  <a:srgbClr val="443D09"/>
                </a:highlight>
                <a:latin typeface="Consolas" pitchFamily="34" charset="0"/>
                <a:ea typeface="Consolas" pitchFamily="34" charset="-122"/>
                <a:cs typeface="Consolas" pitchFamily="34" charset="-120"/>
              </a:rPr>
              <a:t>import matplotlib.pyplot as </a:t>
            </a:r>
            <a:r>
              <a:rPr lang="en-US" sz="950" dirty="0" err="1">
                <a:solidFill>
                  <a:srgbClr val="CFCBBF"/>
                </a:solidFill>
                <a:highlight>
                  <a:srgbClr val="443D09"/>
                </a:highlight>
                <a:latin typeface="Consolas" pitchFamily="34" charset="0"/>
                <a:ea typeface="Consolas" pitchFamily="34" charset="-122"/>
                <a:cs typeface="Consolas" pitchFamily="34" charset="-120"/>
              </a:rPr>
              <a:t>plt</a:t>
            </a:r>
            <a:endParaRPr lang="en-US" sz="950" dirty="0">
              <a:solidFill>
                <a:srgbClr val="CFCBBF"/>
              </a:solidFill>
              <a:highlight>
                <a:srgbClr val="443D09"/>
              </a:highlight>
              <a:latin typeface="Consolas" pitchFamily="34" charset="0"/>
              <a:ea typeface="Consolas" pitchFamily="34" charset="-122"/>
              <a:cs typeface="Consolas" pitchFamily="34" charset="-120"/>
            </a:endParaRPr>
          </a:p>
          <a:p>
            <a:pPr marL="0" indent="0" algn="l">
              <a:lnSpc>
                <a:spcPts val="1550"/>
              </a:lnSpc>
              <a:buNone/>
            </a:pPr>
            <a:endParaRPr lang="en-US" sz="950" dirty="0">
              <a:solidFill>
                <a:srgbClr val="CFCBBF"/>
              </a:solidFill>
              <a:highlight>
                <a:srgbClr val="443D09"/>
              </a:highlight>
              <a:latin typeface="Consolas" pitchFamily="34" charset="0"/>
              <a:ea typeface="Consolas" pitchFamily="34" charset="-122"/>
              <a:cs typeface="Consolas" pitchFamily="34" charset="-120"/>
            </a:endParaRPr>
          </a:p>
          <a:p>
            <a:pPr marL="0" indent="0" algn="l">
              <a:lnSpc>
                <a:spcPts val="1550"/>
              </a:lnSpc>
              <a:buNone/>
            </a:pPr>
            <a:r>
              <a:rPr lang="en-US" sz="950" dirty="0">
                <a:solidFill>
                  <a:srgbClr val="CFCBBF"/>
                </a:solidFill>
                <a:highlight>
                  <a:srgbClr val="443D09"/>
                </a:highlight>
                <a:latin typeface="Consolas" pitchFamily="34" charset="0"/>
                <a:ea typeface="Consolas" pitchFamily="34" charset="-122"/>
                <a:cs typeface="Consolas" pitchFamily="34" charset="-120"/>
              </a:rPr>
              <a:t>masker = </a:t>
            </a:r>
            <a:r>
              <a:rPr lang="en-US" sz="950" dirty="0" err="1">
                <a:solidFill>
                  <a:srgbClr val="CFCBBF"/>
                </a:solidFill>
                <a:highlight>
                  <a:srgbClr val="443D09"/>
                </a:highlight>
                <a:latin typeface="Consolas" pitchFamily="34" charset="0"/>
                <a:ea typeface="Consolas" pitchFamily="34" charset="-122"/>
                <a:cs typeface="Consolas" pitchFamily="34" charset="-120"/>
              </a:rPr>
              <a:t>NiftiMasker</a:t>
            </a:r>
            <a:r>
              <a:rPr lang="en-US" sz="950" dirty="0">
                <a:solidFill>
                  <a:srgbClr val="CFCBBF"/>
                </a:solidFill>
                <a:highlight>
                  <a:srgbClr val="443D09"/>
                </a:highlight>
                <a:latin typeface="Consolas" pitchFamily="34" charset="0"/>
                <a:ea typeface="Consolas" pitchFamily="34" charset="-122"/>
                <a:cs typeface="Consolas" pitchFamily="34" charset="-120"/>
              </a:rPr>
              <a:t>(mask_img=haxby_dataset.mask_vt[0], standardize="True", memory="</a:t>
            </a:r>
            <a:r>
              <a:rPr lang="en-US" sz="950" dirty="0" err="1">
                <a:solidFill>
                  <a:srgbClr val="CFCBBF"/>
                </a:solidFill>
                <a:highlight>
                  <a:srgbClr val="443D09"/>
                </a:highlight>
                <a:latin typeface="Consolas" pitchFamily="34" charset="0"/>
                <a:ea typeface="Consolas" pitchFamily="34" charset="-122"/>
                <a:cs typeface="Consolas" pitchFamily="34" charset="-120"/>
              </a:rPr>
              <a:t>nilearn_cache</a:t>
            </a:r>
            <a:r>
              <a:rPr lang="en-US" sz="950" dirty="0">
                <a:solidFill>
                  <a:srgbClr val="CFCBBF"/>
                </a:solidFill>
                <a:highlight>
                  <a:srgbClr val="443D09"/>
                </a:highlight>
                <a:latin typeface="Consolas" pitchFamily="34" charset="0"/>
                <a:ea typeface="Consolas" pitchFamily="34" charset="-122"/>
                <a:cs typeface="Consolas" pitchFamily="34" charset="-120"/>
              </a:rPr>
              <a:t>", </a:t>
            </a:r>
            <a:r>
              <a:rPr lang="en-US" sz="950" dirty="0" err="1">
                <a:solidFill>
                  <a:srgbClr val="CFCBBF"/>
                </a:solidFill>
                <a:highlight>
                  <a:srgbClr val="443D09"/>
                </a:highlight>
                <a:latin typeface="Consolas" pitchFamily="34" charset="0"/>
                <a:ea typeface="Consolas" pitchFamily="34" charset="-122"/>
                <a:cs typeface="Consolas" pitchFamily="34" charset="-120"/>
              </a:rPr>
              <a:t>memory_level</a:t>
            </a:r>
            <a:r>
              <a:rPr lang="en-US" sz="950" dirty="0">
                <a:solidFill>
                  <a:srgbClr val="CFCBBF"/>
                </a:solidFill>
                <a:highlight>
                  <a:srgbClr val="443D09"/>
                </a:highlight>
                <a:latin typeface="Consolas" pitchFamily="34" charset="0"/>
                <a:ea typeface="Consolas" pitchFamily="34" charset="-122"/>
                <a:cs typeface="Consolas" pitchFamily="34" charset="-120"/>
              </a:rPr>
              <a:t>=1)</a:t>
            </a:r>
          </a:p>
          <a:p>
            <a:pPr marL="0" indent="0" algn="l">
              <a:lnSpc>
                <a:spcPts val="1550"/>
              </a:lnSpc>
              <a:buNone/>
            </a:pPr>
            <a:endParaRPr lang="en-US" sz="950" dirty="0">
              <a:solidFill>
                <a:srgbClr val="CFCBBF"/>
              </a:solidFill>
              <a:highlight>
                <a:srgbClr val="443D09"/>
              </a:highlight>
              <a:latin typeface="Consolas" pitchFamily="34" charset="0"/>
              <a:ea typeface="Consolas" pitchFamily="34" charset="-122"/>
              <a:cs typeface="Consolas" pitchFamily="34" charset="-120"/>
            </a:endParaRPr>
          </a:p>
          <a:p>
            <a:pPr marL="0" indent="0" algn="l">
              <a:lnSpc>
                <a:spcPts val="1550"/>
              </a:lnSpc>
              <a:buNone/>
            </a:pPr>
            <a:r>
              <a:rPr lang="en-US" sz="950" dirty="0" err="1">
                <a:solidFill>
                  <a:srgbClr val="CFCBBF"/>
                </a:solidFill>
                <a:highlight>
                  <a:srgbClr val="443D09"/>
                </a:highlight>
                <a:latin typeface="Consolas" pitchFamily="34" charset="0"/>
                <a:ea typeface="Consolas" pitchFamily="34" charset="-122"/>
                <a:cs typeface="Consolas" pitchFamily="34" charset="-120"/>
              </a:rPr>
              <a:t>fmri_masked</a:t>
            </a:r>
            <a:r>
              <a:rPr lang="en-US" sz="950" dirty="0">
                <a:solidFill>
                  <a:srgbClr val="CFCBBF"/>
                </a:solidFill>
                <a:highlight>
                  <a:srgbClr val="443D09"/>
                </a:highlight>
                <a:latin typeface="Consolas" pitchFamily="34" charset="0"/>
                <a:ea typeface="Consolas" pitchFamily="34" charset="-122"/>
                <a:cs typeface="Consolas" pitchFamily="34" charset="-120"/>
              </a:rPr>
              <a:t> = masker.fit_transform(haxby_dataset.func[0])</a:t>
            </a:r>
          </a:p>
          <a:p>
            <a:pPr marL="0" indent="0" algn="l">
              <a:lnSpc>
                <a:spcPts val="1550"/>
              </a:lnSpc>
              <a:buNone/>
            </a:pPr>
            <a:r>
              <a:rPr lang="en-US" sz="950" dirty="0" err="1">
                <a:solidFill>
                  <a:srgbClr val="CFCBBF"/>
                </a:solidFill>
                <a:highlight>
                  <a:srgbClr val="443D09"/>
                </a:highlight>
                <a:latin typeface="Consolas" pitchFamily="34" charset="0"/>
                <a:ea typeface="Consolas" pitchFamily="34" charset="-122"/>
                <a:cs typeface="Consolas" pitchFamily="34" charset="-120"/>
              </a:rPr>
              <a:t>plt.figure</a:t>
            </a:r>
            <a:r>
              <a:rPr lang="en-US" sz="950" dirty="0">
                <a:solidFill>
                  <a:srgbClr val="CFCBBF"/>
                </a:solidFill>
                <a:highlight>
                  <a:srgbClr val="443D09"/>
                </a:highlight>
                <a:latin typeface="Consolas" pitchFamily="34" charset="0"/>
                <a:ea typeface="Consolas" pitchFamily="34" charset="-122"/>
                <a:cs typeface="Consolas" pitchFamily="34" charset="-120"/>
              </a:rPr>
              <a:t>(figsize=(10, 4))</a:t>
            </a:r>
          </a:p>
          <a:p>
            <a:pPr marL="0" indent="0" algn="l">
              <a:lnSpc>
                <a:spcPts val="1550"/>
              </a:lnSpc>
              <a:buNone/>
            </a:pPr>
            <a:r>
              <a:rPr lang="en-US" sz="950" dirty="0" err="1">
                <a:solidFill>
                  <a:srgbClr val="CFCBBF"/>
                </a:solidFill>
                <a:highlight>
                  <a:srgbClr val="443D09"/>
                </a:highlight>
                <a:latin typeface="Consolas" pitchFamily="34" charset="0"/>
                <a:ea typeface="Consolas" pitchFamily="34" charset="-122"/>
                <a:cs typeface="Consolas" pitchFamily="34" charset="-120"/>
              </a:rPr>
              <a:t>plt.plot</a:t>
            </a:r>
            <a:r>
              <a:rPr lang="en-US" sz="950" dirty="0">
                <a:solidFill>
                  <a:srgbClr val="CFCBBF"/>
                </a:solidFill>
                <a:highlight>
                  <a:srgbClr val="443D09"/>
                </a:highlight>
                <a:latin typeface="Consolas" pitchFamily="34" charset="0"/>
                <a:ea typeface="Consolas" pitchFamily="34" charset="-122"/>
                <a:cs typeface="Consolas" pitchFamily="34" charset="-120"/>
              </a:rPr>
              <a:t>(fmri_masked[0])</a:t>
            </a:r>
          </a:p>
          <a:p>
            <a:pPr marL="0" indent="0" algn="l">
              <a:lnSpc>
                <a:spcPts val="1550"/>
              </a:lnSpc>
              <a:buNone/>
            </a:pPr>
            <a:r>
              <a:rPr lang="en-US" sz="950" dirty="0" err="1">
                <a:solidFill>
                  <a:srgbClr val="CFCBBF"/>
                </a:solidFill>
                <a:highlight>
                  <a:srgbClr val="443D09"/>
                </a:highlight>
                <a:latin typeface="Consolas" pitchFamily="34" charset="0"/>
                <a:ea typeface="Consolas" pitchFamily="34" charset="-122"/>
                <a:cs typeface="Consolas" pitchFamily="34" charset="-120"/>
              </a:rPr>
              <a:t>plt.title</a:t>
            </a:r>
            <a:r>
              <a:rPr lang="en-US" sz="950" dirty="0">
                <a:solidFill>
                  <a:srgbClr val="CFCBBF"/>
                </a:solidFill>
                <a:highlight>
                  <a:srgbClr val="443D09"/>
                </a:highlight>
                <a:latin typeface="Consolas" pitchFamily="34" charset="0"/>
                <a:ea typeface="Consolas" pitchFamily="34" charset="-122"/>
                <a:cs typeface="Consolas" pitchFamily="34" charset="-120"/>
              </a:rPr>
              <a:t>("Extracted Time Course")</a:t>
            </a:r>
          </a:p>
          <a:p>
            <a:pPr marL="0" indent="0" algn="l">
              <a:lnSpc>
                <a:spcPts val="1550"/>
              </a:lnSpc>
              <a:buNone/>
            </a:pPr>
            <a:r>
              <a:rPr lang="en-US" sz="950" dirty="0" err="1">
                <a:solidFill>
                  <a:srgbClr val="CFCBBF"/>
                </a:solidFill>
                <a:highlight>
                  <a:srgbClr val="443D09"/>
                </a:highlight>
                <a:latin typeface="Consolas" pitchFamily="34" charset="0"/>
                <a:ea typeface="Consolas" pitchFamily="34" charset="-122"/>
                <a:cs typeface="Consolas" pitchFamily="34" charset="-120"/>
              </a:rPr>
              <a:t>plt.xlabel</a:t>
            </a:r>
            <a:r>
              <a:rPr lang="en-US" sz="950" dirty="0">
                <a:solidFill>
                  <a:srgbClr val="CFCBBF"/>
                </a:solidFill>
                <a:highlight>
                  <a:srgbClr val="443D09"/>
                </a:highlight>
                <a:latin typeface="Consolas" pitchFamily="34" charset="0"/>
                <a:ea typeface="Consolas" pitchFamily="34" charset="-122"/>
                <a:cs typeface="Consolas" pitchFamily="34" charset="-120"/>
              </a:rPr>
              <a:t>("Time Points")</a:t>
            </a:r>
          </a:p>
          <a:p>
            <a:pPr marL="0" indent="0" algn="l">
              <a:lnSpc>
                <a:spcPts val="1550"/>
              </a:lnSpc>
              <a:buNone/>
            </a:pPr>
            <a:r>
              <a:rPr lang="en-US" sz="950" dirty="0" err="1">
                <a:solidFill>
                  <a:srgbClr val="CFCBBF"/>
                </a:solidFill>
                <a:highlight>
                  <a:srgbClr val="443D09"/>
                </a:highlight>
                <a:latin typeface="Consolas" pitchFamily="34" charset="0"/>
                <a:ea typeface="Consolas" pitchFamily="34" charset="-122"/>
                <a:cs typeface="Consolas" pitchFamily="34" charset="-120"/>
              </a:rPr>
              <a:t>plt.ylabel</a:t>
            </a:r>
            <a:r>
              <a:rPr lang="en-US" sz="950" dirty="0">
                <a:solidFill>
                  <a:srgbClr val="CFCBBF"/>
                </a:solidFill>
                <a:highlight>
                  <a:srgbClr val="443D09"/>
                </a:highlight>
                <a:latin typeface="Consolas" pitchFamily="34" charset="0"/>
                <a:ea typeface="Consolas" pitchFamily="34" charset="-122"/>
                <a:cs typeface="Consolas" pitchFamily="34" charset="-120"/>
              </a:rPr>
              <a:t>("BOLD Signal (Normalized)")</a:t>
            </a:r>
          </a:p>
          <a:p>
            <a:pPr marL="0" indent="0" algn="l">
              <a:lnSpc>
                <a:spcPts val="1550"/>
              </a:lnSpc>
              <a:buNone/>
            </a:pPr>
            <a:r>
              <a:rPr lang="en-US" sz="950" dirty="0" err="1">
                <a:solidFill>
                  <a:srgbClr val="CFCBBF"/>
                </a:solidFill>
                <a:highlight>
                  <a:srgbClr val="443D09"/>
                </a:highlight>
                <a:latin typeface="Consolas" pitchFamily="34" charset="0"/>
                <a:ea typeface="Consolas" pitchFamily="34" charset="-122"/>
                <a:cs typeface="Consolas" pitchFamily="34" charset="-120"/>
              </a:rPr>
              <a:t>plt.show</a:t>
            </a:r>
            <a:r>
              <a:rPr lang="en-US" sz="950" dirty="0">
                <a:solidFill>
                  <a:srgbClr val="CFCBBF"/>
                </a:solidFill>
                <a:highlight>
                  <a:srgbClr val="443D09"/>
                </a:highlight>
                <a:latin typeface="Consolas" pitchFamily="34" charset="0"/>
                <a:ea typeface="Consolas" pitchFamily="34" charset="-122"/>
                <a:cs typeface="Consolas" pitchFamily="34" charset="-120"/>
              </a:rPr>
              <a:t>()</a:t>
            </a:r>
            <a:endParaRPr lang="en-US" sz="950" dirty="0"/>
          </a:p>
        </p:txBody>
      </p:sp>
      <p:pic>
        <p:nvPicPr>
          <p:cNvPr id="8" name="Image 0" descr="preencoded.png"/>
          <p:cNvPicPr>
            <a:picLocks noChangeAspect="1"/>
          </p:cNvPicPr>
          <p:nvPr/>
        </p:nvPicPr>
        <p:blipFill>
          <a:blip r:embed="rId3"/>
          <a:stretch>
            <a:fillRect/>
          </a:stretch>
        </p:blipFill>
        <p:spPr>
          <a:xfrm>
            <a:off x="7830252" y="1904762"/>
            <a:ext cx="5768428" cy="576842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29C0B4A-E2E0-4B34-7584-1401D0C53EA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5DD69083-5203-0CF7-3495-7291CEF8AC56}"/>
              </a:ext>
            </a:extLst>
          </p:cNvPr>
          <p:cNvSpPr/>
          <p:nvPr/>
        </p:nvSpPr>
        <p:spPr>
          <a:xfrm>
            <a:off x="793790" y="2162532"/>
            <a:ext cx="7554158" cy="620078"/>
          </a:xfrm>
          <a:prstGeom prst="rect">
            <a:avLst/>
          </a:prstGeom>
          <a:noFill/>
          <a:ln/>
        </p:spPr>
        <p:txBody>
          <a:bodyPr wrap="none" lIns="0" tIns="0" rIns="0" bIns="0" rtlCol="0" anchor="t"/>
          <a:lstStyle/>
          <a:p>
            <a:pPr>
              <a:lnSpc>
                <a:spcPts val="4850"/>
              </a:lnSpc>
            </a:pPr>
            <a:r>
              <a:rPr lang="en-US" sz="3900" dirty="0">
                <a:solidFill>
                  <a:srgbClr val="F2E782"/>
                </a:solidFill>
                <a:latin typeface="Prata" pitchFamily="34" charset="0"/>
                <a:ea typeface="Prata" pitchFamily="34" charset="-122"/>
                <a:cs typeface="Prata" pitchFamily="34" charset="-120"/>
              </a:rPr>
              <a:t>ROI Definition and Masking</a:t>
            </a:r>
            <a:endParaRPr lang="en-US" sz="3900" dirty="0"/>
          </a:p>
        </p:txBody>
      </p:sp>
      <p:sp>
        <p:nvSpPr>
          <p:cNvPr id="4" name="Text 1">
            <a:extLst>
              <a:ext uri="{FF2B5EF4-FFF2-40B4-BE49-F238E27FC236}">
                <a16:creationId xmlns:a16="http://schemas.microsoft.com/office/drawing/2014/main" id="{29BEF75F-7311-784B-39FC-9EBB37A432D3}"/>
              </a:ext>
            </a:extLst>
          </p:cNvPr>
          <p:cNvSpPr/>
          <p:nvPr/>
        </p:nvSpPr>
        <p:spPr>
          <a:xfrm>
            <a:off x="793790" y="3080266"/>
            <a:ext cx="7556421" cy="952619"/>
          </a:xfrm>
          <a:prstGeom prst="rect">
            <a:avLst/>
          </a:prstGeom>
          <a:noFill/>
          <a:ln/>
        </p:spPr>
        <p:txBody>
          <a:bodyPr wrap="square" lIns="0" tIns="0" rIns="0" bIns="0" rtlCol="0" anchor="t"/>
          <a:lstStyle/>
          <a:p>
            <a:pPr>
              <a:lnSpc>
                <a:spcPts val="2500"/>
              </a:lnSpc>
            </a:pPr>
            <a:r>
              <a:rPr lang="en-US" sz="1550" dirty="0">
                <a:solidFill>
                  <a:srgbClr val="CFCBBF"/>
                </a:solidFill>
                <a:latin typeface="Raleway" pitchFamily="34" charset="0"/>
                <a:ea typeface="Raleway" pitchFamily="34" charset="-122"/>
                <a:cs typeface="Raleway" pitchFamily="34" charset="-120"/>
              </a:rPr>
              <a:t>Regions of Interest (ROIs) are specific brain areas defined by anatomical boundaries or functional characteristics. Masking allows you to isolate and analyze activity within these predefined regions.</a:t>
            </a:r>
            <a:endParaRPr lang="en-US" sz="1550" dirty="0"/>
          </a:p>
        </p:txBody>
      </p:sp>
      <p:sp>
        <p:nvSpPr>
          <p:cNvPr id="5" name="Text 2">
            <a:extLst>
              <a:ext uri="{FF2B5EF4-FFF2-40B4-BE49-F238E27FC236}">
                <a16:creationId xmlns:a16="http://schemas.microsoft.com/office/drawing/2014/main" id="{4DD7C7F9-324B-99AF-334D-A5276DD5FDB0}"/>
              </a:ext>
            </a:extLst>
          </p:cNvPr>
          <p:cNvSpPr/>
          <p:nvPr/>
        </p:nvSpPr>
        <p:spPr>
          <a:xfrm>
            <a:off x="793790" y="4256127"/>
            <a:ext cx="7556421" cy="952619"/>
          </a:xfrm>
          <a:prstGeom prst="rect">
            <a:avLst/>
          </a:prstGeom>
          <a:noFill/>
          <a:ln/>
        </p:spPr>
        <p:txBody>
          <a:bodyPr wrap="square" lIns="0" tIns="0" rIns="0" bIns="0" rtlCol="0" anchor="t"/>
          <a:lstStyle/>
          <a:p>
            <a:pPr>
              <a:lnSpc>
                <a:spcPts val="2500"/>
              </a:lnSpc>
            </a:pPr>
            <a:r>
              <a:rPr lang="en-US" sz="1550" dirty="0">
                <a:solidFill>
                  <a:srgbClr val="CFCBBF"/>
                </a:solidFill>
                <a:latin typeface="Raleway" pitchFamily="34" charset="0"/>
                <a:ea typeface="Raleway" pitchFamily="34" charset="-122"/>
                <a:cs typeface="Raleway" pitchFamily="34" charset="-120"/>
              </a:rPr>
              <a:t>Defining ROIs using MNI (Montreal Neurological Institute) coordinates is common, especially when working with normalized brain data. Spherical masks are often used for simple ROI definitions around a central coordinate.</a:t>
            </a:r>
            <a:endParaRPr lang="en-US" sz="1550" dirty="0"/>
          </a:p>
        </p:txBody>
      </p:sp>
      <p:sp>
        <p:nvSpPr>
          <p:cNvPr id="6" name="Text 3">
            <a:extLst>
              <a:ext uri="{FF2B5EF4-FFF2-40B4-BE49-F238E27FC236}">
                <a16:creationId xmlns:a16="http://schemas.microsoft.com/office/drawing/2014/main" id="{B22C45BB-75B6-308F-1202-D383B28DBB78}"/>
              </a:ext>
            </a:extLst>
          </p:cNvPr>
          <p:cNvSpPr/>
          <p:nvPr/>
        </p:nvSpPr>
        <p:spPr>
          <a:xfrm>
            <a:off x="793790" y="5431988"/>
            <a:ext cx="7556421" cy="635079"/>
          </a:xfrm>
          <a:prstGeom prst="rect">
            <a:avLst/>
          </a:prstGeom>
          <a:noFill/>
          <a:ln/>
        </p:spPr>
        <p:txBody>
          <a:bodyPr wrap="square" lIns="0" tIns="0" rIns="0" bIns="0" rtlCol="0" anchor="t"/>
          <a:lstStyle/>
          <a:p>
            <a:pPr>
              <a:lnSpc>
                <a:spcPts val="2500"/>
              </a:lnSpc>
            </a:pPr>
            <a:r>
              <a:rPr lang="en-US" sz="1550" dirty="0">
                <a:solidFill>
                  <a:srgbClr val="CFCBBF"/>
                </a:solidFill>
                <a:latin typeface="Raleway" pitchFamily="34" charset="0"/>
                <a:ea typeface="Raleway" pitchFamily="34" charset="-122"/>
                <a:cs typeface="Raleway" pitchFamily="34" charset="-120"/>
              </a:rPr>
              <a:t>Defining ROIs using MNI (Montreal Neurological Institute) coordinates is common, especially when working with normalized brain data. Spherical masks are often used for simple ROI definitions around a central coordinate.</a:t>
            </a:r>
            <a:endParaRPr lang="en-US" sz="1550" dirty="0"/>
          </a:p>
        </p:txBody>
      </p:sp>
      <p:sp>
        <p:nvSpPr>
          <p:cNvPr id="9" name="Rectangle 8">
            <a:extLst>
              <a:ext uri="{FF2B5EF4-FFF2-40B4-BE49-F238E27FC236}">
                <a16:creationId xmlns:a16="http://schemas.microsoft.com/office/drawing/2014/main" id="{704B22E4-44A5-C3EA-8C73-1F257BD28858}"/>
              </a:ext>
            </a:extLst>
          </p:cNvPr>
          <p:cNvSpPr/>
          <p:nvPr/>
        </p:nvSpPr>
        <p:spPr>
          <a:xfrm>
            <a:off x="10047248" y="0"/>
            <a:ext cx="4583153" cy="822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descr="Brain parcellation selection: An overlooked decision point with meaningful  effects on individual differences in resting-state functional connectivity.  - Abstract - Europe PMC">
            <a:extLst>
              <a:ext uri="{FF2B5EF4-FFF2-40B4-BE49-F238E27FC236}">
                <a16:creationId xmlns:a16="http://schemas.microsoft.com/office/drawing/2014/main" id="{E126801F-F418-67DA-C4B7-E101F2A5678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821" t="2703" r="1244" b="2333"/>
          <a:stretch>
            <a:fillRect/>
          </a:stretch>
        </p:blipFill>
        <p:spPr bwMode="auto">
          <a:xfrm>
            <a:off x="10047248" y="18071"/>
            <a:ext cx="4583151" cy="408557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Brain parcellation selection: An overlooked decision point with meaningful  effects on individual differences in resting-state functional connectivity.  - Abstract - Europe PMC">
            <a:extLst>
              <a:ext uri="{FF2B5EF4-FFF2-40B4-BE49-F238E27FC236}">
                <a16:creationId xmlns:a16="http://schemas.microsoft.com/office/drawing/2014/main" id="{2D283276-3601-75CD-AE26-E6A8AD6DE5C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08" t="2178" r="51593" b="2390"/>
          <a:stretch>
            <a:fillRect/>
          </a:stretch>
        </p:blipFill>
        <p:spPr bwMode="auto">
          <a:xfrm>
            <a:off x="10120779" y="4132509"/>
            <a:ext cx="4509622" cy="4051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997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2" name="Text 0"/>
          <p:cNvSpPr/>
          <p:nvPr/>
        </p:nvSpPr>
        <p:spPr>
          <a:xfrm>
            <a:off x="503158" y="345877"/>
            <a:ext cx="6630710" cy="393025"/>
          </a:xfrm>
          <a:prstGeom prst="rect">
            <a:avLst/>
          </a:prstGeom>
          <a:noFill/>
          <a:ln/>
        </p:spPr>
        <p:txBody>
          <a:bodyPr wrap="none" lIns="0" tIns="0" rIns="0" bIns="0" rtlCol="0" anchor="t"/>
          <a:lstStyle/>
          <a:p>
            <a:pPr marL="0" indent="0" algn="l">
              <a:lnSpc>
                <a:spcPts val="3050"/>
              </a:lnSpc>
              <a:buNone/>
            </a:pPr>
            <a:r>
              <a:rPr lang="en-US" sz="2450" dirty="0">
                <a:solidFill>
                  <a:srgbClr val="F2E782"/>
                </a:solidFill>
                <a:latin typeface="Prata" pitchFamily="34" charset="0"/>
                <a:ea typeface="Prata" pitchFamily="34" charset="-122"/>
                <a:cs typeface="Prata" pitchFamily="34" charset="-120"/>
              </a:rPr>
              <a:t>Basic General Linear Model (GLM) Pipeline</a:t>
            </a:r>
            <a:endParaRPr lang="en-US" sz="2450" dirty="0"/>
          </a:p>
        </p:txBody>
      </p:sp>
      <p:sp>
        <p:nvSpPr>
          <p:cNvPr id="3" name="Text 1"/>
          <p:cNvSpPr/>
          <p:nvPr/>
        </p:nvSpPr>
        <p:spPr>
          <a:xfrm>
            <a:off x="503158" y="990481"/>
            <a:ext cx="13624084" cy="201335"/>
          </a:xfrm>
          <a:prstGeom prst="rect">
            <a:avLst/>
          </a:prstGeom>
          <a:noFill/>
          <a:ln/>
        </p:spPr>
        <p:txBody>
          <a:bodyPr wrap="none" lIns="0" tIns="0" rIns="0" bIns="0" rtlCol="0" anchor="t"/>
          <a:lstStyle/>
          <a:p>
            <a:pPr marL="0" indent="0" algn="l">
              <a:lnSpc>
                <a:spcPts val="1550"/>
              </a:lnSpc>
              <a:buNone/>
            </a:pPr>
            <a:r>
              <a:rPr lang="en-US" sz="950" dirty="0">
                <a:solidFill>
                  <a:srgbClr val="CFCBBF"/>
                </a:solidFill>
                <a:latin typeface="Raleway" pitchFamily="34" charset="0"/>
                <a:ea typeface="Raleway" pitchFamily="34" charset="-122"/>
                <a:cs typeface="Raleway" pitchFamily="34" charset="-120"/>
              </a:rPr>
              <a:t>The General Linear Model (GLM) is the most common statistical framework used to analyze fMRI data. It models the BOLD response to experimental conditions.</a:t>
            </a:r>
            <a:endParaRPr lang="en-US" sz="950" dirty="0"/>
          </a:p>
        </p:txBody>
      </p:sp>
      <p:sp>
        <p:nvSpPr>
          <p:cNvPr id="4" name="Text 2"/>
          <p:cNvSpPr/>
          <p:nvPr/>
        </p:nvSpPr>
        <p:spPr>
          <a:xfrm>
            <a:off x="503158" y="1333262"/>
            <a:ext cx="13624084" cy="402669"/>
          </a:xfrm>
          <a:prstGeom prst="rect">
            <a:avLst/>
          </a:prstGeom>
          <a:noFill/>
          <a:ln/>
        </p:spPr>
        <p:txBody>
          <a:bodyPr wrap="square" lIns="0" tIns="0" rIns="0" bIns="0" rtlCol="0" anchor="t"/>
          <a:lstStyle/>
          <a:p>
            <a:pPr marL="0" indent="0" algn="l">
              <a:lnSpc>
                <a:spcPts val="1550"/>
              </a:lnSpc>
              <a:buNone/>
            </a:pPr>
            <a:r>
              <a:rPr lang="en-US" sz="950" dirty="0">
                <a:solidFill>
                  <a:srgbClr val="CFCBBF"/>
                </a:solidFill>
                <a:latin typeface="Raleway" pitchFamily="34" charset="0"/>
                <a:ea typeface="Raleway" pitchFamily="34" charset="-122"/>
                <a:cs typeface="Raleway" pitchFamily="34" charset="-120"/>
              </a:rPr>
              <a:t>A key component is the design matrix, which specifies the timing and amplitude of experimental events. The GLM then estimates beta coefficients (β-maps) for each regressor, indicating the strength of the relationship between the experimental condition and the BOLD signal, often visualized as z-maps.</a:t>
            </a:r>
            <a:endParaRPr lang="en-US" sz="950" dirty="0"/>
          </a:p>
        </p:txBody>
      </p:sp>
      <p:sp>
        <p:nvSpPr>
          <p:cNvPr id="6" name="Text 3"/>
          <p:cNvSpPr/>
          <p:nvPr/>
        </p:nvSpPr>
        <p:spPr>
          <a:xfrm>
            <a:off x="503158" y="8818959"/>
            <a:ext cx="6658689" cy="402669"/>
          </a:xfrm>
          <a:prstGeom prst="rect">
            <a:avLst/>
          </a:prstGeom>
          <a:noFill/>
          <a:ln/>
        </p:spPr>
        <p:txBody>
          <a:bodyPr wrap="square" lIns="0" tIns="0" rIns="0" bIns="0" rtlCol="0" anchor="t"/>
          <a:lstStyle/>
          <a:p>
            <a:pPr marL="0" indent="0" algn="l">
              <a:lnSpc>
                <a:spcPts val="1550"/>
              </a:lnSpc>
              <a:buNone/>
            </a:pPr>
            <a:r>
              <a:rPr lang="en-US" sz="950" dirty="0">
                <a:solidFill>
                  <a:srgbClr val="CFCBBF"/>
                </a:solidFill>
                <a:latin typeface="Raleway" pitchFamily="34" charset="0"/>
                <a:ea typeface="Raleway" pitchFamily="34" charset="-122"/>
                <a:cs typeface="Raleway" pitchFamily="34" charset="-120"/>
              </a:rPr>
              <a:t>The design matrix visualizes the experimental paradigm, with different columns representing various conditions or nuisance regressors (e.g., head motion).</a:t>
            </a:r>
            <a:endParaRPr lang="en-US" sz="950" dirty="0"/>
          </a:p>
        </p:txBody>
      </p:sp>
      <p:sp>
        <p:nvSpPr>
          <p:cNvPr id="8" name="Text 4"/>
          <p:cNvSpPr/>
          <p:nvPr/>
        </p:nvSpPr>
        <p:spPr>
          <a:xfrm>
            <a:off x="7476173" y="8818959"/>
            <a:ext cx="6658689" cy="402669"/>
          </a:xfrm>
          <a:prstGeom prst="rect">
            <a:avLst/>
          </a:prstGeom>
          <a:noFill/>
          <a:ln/>
        </p:spPr>
        <p:txBody>
          <a:bodyPr wrap="square" lIns="0" tIns="0" rIns="0" bIns="0" rtlCol="0" anchor="t"/>
          <a:lstStyle/>
          <a:p>
            <a:pPr marL="0" indent="0" algn="l">
              <a:lnSpc>
                <a:spcPts val="1550"/>
              </a:lnSpc>
              <a:buNone/>
            </a:pPr>
            <a:r>
              <a:rPr lang="en-US" sz="950" dirty="0">
                <a:solidFill>
                  <a:srgbClr val="CFCBBF"/>
                </a:solidFill>
                <a:latin typeface="Raleway" pitchFamily="34" charset="0"/>
                <a:ea typeface="Raleway" pitchFamily="34" charset="-122"/>
                <a:cs typeface="Raleway" pitchFamily="34" charset="-120"/>
              </a:rPr>
              <a:t>The β-map or z-map displays statistical results, where hot colors typically indicate significant activation in response to a particular experimental condition.</a:t>
            </a:r>
            <a:endParaRPr lang="en-US" sz="950" dirty="0"/>
          </a:p>
        </p:txBody>
      </p:sp>
      <p:pic>
        <p:nvPicPr>
          <p:cNvPr id="5122" name="Picture 2">
            <a:extLst>
              <a:ext uri="{FF2B5EF4-FFF2-40B4-BE49-F238E27FC236}">
                <a16:creationId xmlns:a16="http://schemas.microsoft.com/office/drawing/2014/main" id="{7108E861-1645-9549-976F-3565B365B8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7414" y="2780370"/>
            <a:ext cx="11576128" cy="43073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456</TotalTime>
  <Words>905</Words>
  <Application>Microsoft Office PowerPoint</Application>
  <PresentationFormat>Custom</PresentationFormat>
  <Paragraphs>65</Paragraphs>
  <Slides>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Consolas</vt:lpstr>
      <vt:lpstr>Prata</vt:lpstr>
      <vt:lpstr>Raleway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Mahan Nili</cp:lastModifiedBy>
  <cp:revision>3</cp:revision>
  <dcterms:created xsi:type="dcterms:W3CDTF">2025-07-11T16:01:49Z</dcterms:created>
  <dcterms:modified xsi:type="dcterms:W3CDTF">2025-07-12T00:15:31Z</dcterms:modified>
</cp:coreProperties>
</file>